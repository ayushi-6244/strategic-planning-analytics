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Revenue ($)</c:v>
                </c:pt>
              </c:strCache>
            </c:strRef>
          </c:tx>
          <c:spPr>
            <a:solidFill>
              <a:srgbClr val="0A8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Jul '25</c:v>
                  </c:pt>
                  <c:pt idx="1">
                    <c:v>Aug '25</c:v>
                  </c:pt>
                  <c:pt idx="2">
                    <c:v>Sep '25</c:v>
                  </c:pt>
                  <c:pt idx="3">
                    <c:v>Oct '25</c:v>
                  </c:pt>
                  <c:pt idx="4">
                    <c:v>Nov '25</c:v>
                  </c:pt>
                  <c:pt idx="5">
                    <c:v>Dec '25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2840000</c:v>
                </c:pt>
                <c:pt idx="1">
                  <c:v>2910000</c:v>
                </c:pt>
                <c:pt idx="2">
                  <c:v>2875000</c:v>
                </c:pt>
                <c:pt idx="3">
                  <c:v>3020000</c:v>
                </c:pt>
                <c:pt idx="4">
                  <c:v>3185000</c:v>
                </c:pt>
                <c:pt idx="5">
                  <c:v>3310000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Lower 90% CI</c:v>
                </c:pt>
              </c:strCache>
            </c:strRef>
          </c:tx>
          <c:spPr>
            <a:solidFill>
              <a:srgbClr val="BFE7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Jul '25</c:v>
                  </c:pt>
                  <c:pt idx="1">
                    <c:v>Aug '25</c:v>
                  </c:pt>
                  <c:pt idx="2">
                    <c:v>Sep '25</c:v>
                  </c:pt>
                  <c:pt idx="3">
                    <c:v>Oct '25</c:v>
                  </c:pt>
                  <c:pt idx="4">
                    <c:v>Nov '25</c:v>
                  </c:pt>
                  <c:pt idx="5">
                    <c:v>Dec '25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2560000</c:v>
                </c:pt>
                <c:pt idx="1">
                  <c:v>2620000</c:v>
                </c:pt>
                <c:pt idx="2">
                  <c:v>2590000</c:v>
                </c:pt>
                <c:pt idx="3">
                  <c:v>2730000</c:v>
                </c:pt>
                <c:pt idx="4">
                  <c:v>2875000</c:v>
                </c:pt>
                <c:pt idx="5">
                  <c:v>2990000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90% CI</c:v>
                </c:pt>
              </c:strCache>
            </c:strRef>
          </c:tx>
          <c:spPr>
            <a:solidFill>
              <a:srgbClr val="BFE7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Jul '25</c:v>
                  </c:pt>
                  <c:pt idx="1">
                    <c:v>Aug '25</c:v>
                  </c:pt>
                  <c:pt idx="2">
                    <c:v>Sep '25</c:v>
                  </c:pt>
                  <c:pt idx="3">
                    <c:v>Oct '25</c:v>
                  </c:pt>
                  <c:pt idx="4">
                    <c:v>Nov '25</c:v>
                  </c:pt>
                  <c:pt idx="5">
                    <c:v>Dec '25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3120000</c:v>
                </c:pt>
                <c:pt idx="1">
                  <c:v>3200000</c:v>
                </c:pt>
                <c:pt idx="2">
                  <c:v>3160000</c:v>
                </c:pt>
                <c:pt idx="3">
                  <c:v>3310000</c:v>
                </c:pt>
                <c:pt idx="4">
                  <c:v>3495000</c:v>
                </c:pt>
                <c:pt idx="5">
                  <c:v>3630000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Segment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($M)</c:v>
                </c:pt>
              </c:strCache>
            </c:strRef>
          </c:tx>
          <c:spPr>
            <a:solidFill>
              <a:srgbClr val="0A8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8A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B5A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D7D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52.4</c:v>
                </c:pt>
                <c:pt idx="1">
                  <c:v>38.1</c:v>
                </c:pt>
                <c:pt idx="2">
                  <c:v>24.7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Gross Margin % by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5F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DC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42.1</c:v>
                </c:pt>
                <c:pt idx="1">
                  <c:v>38.8</c:v>
                </c:pt>
                <c:pt idx="2">
                  <c:v>35.2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0A8A7A">
              <a:alpha val="12000"/>
            </a:srgbClr>
          </a:solidFill>
          <a:ln w="12700">
            <a:solidFill>
              <a:srgbClr val="0A8A7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926080"/>
            <a:ext cx="3200400" cy="3200400"/>
          </a:xfrm>
          <a:prstGeom prst="ellipse">
            <a:avLst/>
          </a:prstGeom>
          <a:solidFill>
            <a:srgbClr val="12B5A2">
              <a:alpha val="10000"/>
            </a:srgbClr>
          </a:solidFill>
          <a:ln w="12700">
            <a:solidFill>
              <a:srgbClr val="12B5A2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Planning Analytics Suite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Models  •  KPI Tracking  •  Management Presentations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SQL  |  Advanced Excel  |  Tableau  |  PowerPoint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github.com/Ayushi-6244</a:t>
            </a:r>
            <a:pPr algn="ctr" indent="0" marL="0">
              <a:buNone/>
            </a:pPr>
            <a:r>
              <a:rPr lang="en-US" sz="1100" dirty="0">
                <a:solidFill>
                  <a:srgbClr val="6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ayushi-6244.github.io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Results — Senior Leadership Review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057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64008" cy="123444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38.0%  ✅ On Track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280160"/>
            <a:ext cx="2057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28016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33472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3472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8.0%  ✅ On Track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280160"/>
            <a:ext cx="2057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80160"/>
            <a:ext cx="64008" cy="1234440"/>
          </a:xfrm>
          <a:prstGeom prst="rect">
            <a:avLst/>
          </a:prstGeom>
          <a:solidFill>
            <a:srgbClr val="12B5A2"/>
          </a:solidFill>
          <a:ln w="12700">
            <a:solidFill>
              <a:srgbClr val="12B5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873752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4.20  ✅ On Track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31152" y="1280160"/>
            <a:ext cx="2057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31152" y="1280160"/>
            <a:ext cx="64008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$1,612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095744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/ Headcount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95744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$1,500  ✅ On Track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743200"/>
            <a:ext cx="8595360" cy="685800"/>
          </a:xfrm>
          <a:prstGeom prst="rect">
            <a:avLst/>
          </a:prstGeom>
          <a:solidFill>
            <a:srgbClr val="EEF6F5"/>
          </a:solidFill>
          <a:ln w="12700">
            <a:solidFill>
              <a:srgbClr val="0A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Strategic Impact: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monitoring framework estimated to drive </a:t>
            </a:r>
            <a:pPr indent="0" marL="0">
              <a:buNone/>
            </a:pPr>
            <a:r>
              <a:rPr lang="en-US" sz="125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12–15% improvement in strategic decision quality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12,500+ business records.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432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KPI TREND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86200"/>
          <a:ext cx="8595360" cy="105156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554480"/>
                <a:gridCol w="173736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/ Headcount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Revenue Forecast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Seasonality Model  |  90% Confidence Interval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4300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143000"/>
            <a:ext cx="2788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220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5819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903720" y="1581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172200" y="176479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 % Error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172200" y="19293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03720" y="19293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$86,400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72200" y="2112264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 Error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172200" y="22768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03720" y="2276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$108,200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72200" y="245973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MSE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80760" y="2834640"/>
            <a:ext cx="2788920" cy="1600200"/>
          </a:xfrm>
          <a:prstGeom prst="rect">
            <a:avLst/>
          </a:prstGeom>
          <a:solidFill>
            <a:srgbClr val="EEF6F5"/>
          </a:solidFill>
          <a:ln w="9525">
            <a:solidFill>
              <a:srgbClr val="0A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72200" y="2907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72200" y="32461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seasonal lift projected +8.5%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'25 peak: $3.31M forecast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CI indicates stable trend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 = upside risk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Regional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Trend Analysis — 12,500+ Records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43000"/>
          <a:ext cx="43891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11430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40480"/>
          <a:ext cx="8595360" cy="105156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828800"/>
                <a:gridCol w="8229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Cust. Sat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Tech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Strategic Planning Analytics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1031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1031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Data Capture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12,500+ records ingested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schema design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21031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43000"/>
            <a:ext cx="21031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Forecast Models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NumPy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22402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decomposition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adjustment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CI bounds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21031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43000"/>
            <a:ext cx="21031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KPI Tracking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Excel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2402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critical KPIs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status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scorecards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143000"/>
            <a:ext cx="21031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143000"/>
            <a:ext cx="21031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Leadership Reports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122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+ Tableau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12280" y="22402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summaries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analyses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21408" y="2651760"/>
            <a:ext cx="274320" cy="54864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70248" y="2651760"/>
            <a:ext cx="274320" cy="54864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2651760"/>
            <a:ext cx="274320" cy="54864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55371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Estimated 12–15% improvement in strategic decision quality across all business units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0A8A7A">
              <a:alpha val="12000"/>
            </a:srgbClr>
          </a:solidFill>
          <a:ln w="12700">
            <a:solidFill>
              <a:srgbClr val="0A8A7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926080"/>
            <a:ext cx="3200400" cy="3200400"/>
          </a:xfrm>
          <a:prstGeom prst="ellipse">
            <a:avLst/>
          </a:prstGeom>
          <a:solidFill>
            <a:srgbClr val="12B5A2">
              <a:alpha val="10000"/>
            </a:srgbClr>
          </a:solidFill>
          <a:ln w="12700">
            <a:solidFill>
              <a:srgbClr val="12B5A2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474720" y="1965960"/>
            <a:ext cx="2194560" cy="64008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Planning Analytics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github.com/Ayushi-6244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227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ayushi-6244.github.io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6667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 •  SQL  •  Excel  •  Tableau  •  PowerPoint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Models  |  KPI Tracking  |  Management Presentations  |  Ad Hoc Analysis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Planning Analytics Suite</dc:title>
  <dc:subject>PptxGenJS Presentation</dc:subject>
  <dc:creator>Ayushi</dc:creator>
  <cp:lastModifiedBy>Ayushi</cp:lastModifiedBy>
  <cp:revision>1</cp:revision>
  <dcterms:created xsi:type="dcterms:W3CDTF">2026-05-14T00:03:06Z</dcterms:created>
  <dcterms:modified xsi:type="dcterms:W3CDTF">2026-05-14T00:03:06Z</dcterms:modified>
</cp:coreProperties>
</file>